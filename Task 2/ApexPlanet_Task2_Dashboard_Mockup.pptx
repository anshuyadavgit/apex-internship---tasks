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F4E78"/>
            </a:solidFill>
            <a:ln w="31750" cap="flat">
              <a:solidFill>
                <a:srgbClr val="1F4E7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1F4E78"/>
              </a:solidFill>
              <a:ln w="9525" cap="flat">
                <a:solidFill>
                  <a:srgbClr val="1F4E7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Jan25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  <c:pt idx="12">
                    <c:v>Jan26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10096191</c:v>
                </c:pt>
                <c:pt idx="1">
                  <c:v>11511181</c:v>
                </c:pt>
                <c:pt idx="2">
                  <c:v>13059900</c:v>
                </c:pt>
                <c:pt idx="3">
                  <c:v>12222700</c:v>
                </c:pt>
                <c:pt idx="4">
                  <c:v>10984689</c:v>
                </c:pt>
                <c:pt idx="5">
                  <c:v>12912333</c:v>
                </c:pt>
                <c:pt idx="6">
                  <c:v>11746227</c:v>
                </c:pt>
                <c:pt idx="7">
                  <c:v>9448471</c:v>
                </c:pt>
                <c:pt idx="8">
                  <c:v>9179896</c:v>
                </c:pt>
                <c:pt idx="9">
                  <c:v>12500937</c:v>
                </c:pt>
                <c:pt idx="10">
                  <c:v>12627620</c:v>
                </c:pt>
                <c:pt idx="11">
                  <c:v>12299904</c:v>
                </c:pt>
                <c:pt idx="12">
                  <c:v>809390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#,##0,,&quot;M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F4E7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Electronics</c:v>
                  </c:pt>
                  <c:pt idx="1">
                    <c:v>Education</c:v>
                  </c:pt>
                  <c:pt idx="2">
                    <c:v>Grocery</c:v>
                  </c:pt>
                  <c:pt idx="3">
                    <c:v>Furniture</c:v>
                  </c:pt>
                  <c:pt idx="4">
                    <c:v>Fashion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50778582</c:v>
                </c:pt>
                <c:pt idx="1">
                  <c:v>25031689</c:v>
                </c:pt>
                <c:pt idx="2">
                  <c:v>22231711</c:v>
                </c:pt>
                <c:pt idx="3">
                  <c:v>21521561</c:v>
                </c:pt>
                <c:pt idx="4">
                  <c:v>19835896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#,##0,,&quot;M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F4E7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Patna</c:v>
                  </c:pt>
                  <c:pt idx="1">
                    <c:v>Kolkata</c:v>
                  </c:pt>
                  <c:pt idx="2">
                    <c:v>Bengaluru</c:v>
                  </c:pt>
                  <c:pt idx="3">
                    <c:v>Mumbai</c:v>
                  </c:pt>
                  <c:pt idx="4">
                    <c:v>Hyderabad</c:v>
                  </c:pt>
                  <c:pt idx="5">
                    <c:v>Delhi</c:v>
                  </c:pt>
                  <c:pt idx="6">
                    <c:v>Pune</c:v>
                  </c:pt>
                  <c:pt idx="7">
                    <c:v>Gaya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19285967</c:v>
                </c:pt>
                <c:pt idx="1">
                  <c:v>18884350</c:v>
                </c:pt>
                <c:pt idx="2">
                  <c:v>18773574</c:v>
                </c:pt>
                <c:pt idx="3">
                  <c:v>18757050</c:v>
                </c:pt>
                <c:pt idx="4">
                  <c:v>17166767</c:v>
                </c:pt>
                <c:pt idx="5">
                  <c:v>16097079</c:v>
                </c:pt>
                <c:pt idx="6">
                  <c:v>14513176</c:v>
                </c:pt>
                <c:pt idx="7">
                  <c:v>14380859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#,##0,,&quot;M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Gender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4E78"/>
              </a:solidFill>
              <a:effectLst/>
            </c:spPr>
          </c:dPt>
          <c:dPt>
            <c:idx val="1"/>
            <c:bubble3D val="0"/>
            <c:spPr>
              <a:solidFill>
                <a:srgbClr val="F2A65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Male</c:v>
                </c:pt>
                <c:pt idx="1">
                  <c:v>Female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73070350</c:v>
                </c:pt>
                <c:pt idx="1">
                  <c:v>66329090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4E78"/>
              </a:solidFill>
              <a:effectLst/>
            </c:spPr>
          </c:dPt>
          <c:dPt>
            <c:idx val="1"/>
            <c:bubble3D val="0"/>
            <c:spPr>
              <a:solidFill>
                <a:srgbClr val="CADCF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Weekday</c:v>
                </c:pt>
                <c:pt idx="1">
                  <c:v>Weekend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712</c:v>
                </c:pt>
                <c:pt idx="1">
                  <c:v>288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chart" Target="/ppt/charts/chart4.xml"/><Relationship Id="rId5" Type="http://schemas.openxmlformats.org/officeDocument/2006/relationships/chart" Target="/ppt/charts/chart5.xm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ApexPlanet Sales Performance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8803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KPI Dashboard — Static Mock-up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· Exploratory Data Analysis &amp; Business Intelligence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Performance Dashboard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6217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Period (Jan 2025 – Jan 2026)  |  All Regions  |  All Categories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966960" y="256032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1F4E78"/>
          </a:solidFill>
          <a:ln/>
        </p:spPr>
      </p:sp>
      <p:sp>
        <p:nvSpPr>
          <p:cNvPr id="5" name="Text 3"/>
          <p:cNvSpPr/>
          <p:nvPr/>
        </p:nvSpPr>
        <p:spPr>
          <a:xfrm>
            <a:off x="9966960" y="25603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2026 Snapshot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2212848" cy="1051560"/>
          </a:xfrm>
          <a:prstGeom prst="roundRect">
            <a:avLst>
              <a:gd name="adj" fmla="val 5217"/>
            </a:avLst>
          </a:prstGeom>
          <a:solidFill>
            <a:srgbClr val="1B3A5C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143000"/>
            <a:ext cx="19385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362456"/>
            <a:ext cx="19385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INR 13.94Cr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02920" y="1819656"/>
            <a:ext cx="19385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orders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88336" y="1051560"/>
            <a:ext cx="2212848" cy="1051560"/>
          </a:xfrm>
          <a:prstGeom prst="roundRect">
            <a:avLst>
              <a:gd name="adj" fmla="val 5217"/>
            </a:avLst>
          </a:prstGeom>
          <a:solidFill>
            <a:srgbClr val="1B3A5C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825496" y="1143000"/>
            <a:ext cx="19385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825496" y="1362456"/>
            <a:ext cx="19385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2825496" y="1819656"/>
            <a:ext cx="19385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947 unique customers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10912" y="1051560"/>
            <a:ext cx="2212848" cy="1051560"/>
          </a:xfrm>
          <a:prstGeom prst="roundRect">
            <a:avLst>
              <a:gd name="adj" fmla="val 5217"/>
            </a:avLst>
          </a:prstGeom>
          <a:solidFill>
            <a:srgbClr val="1B3A5C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148072" y="1143000"/>
            <a:ext cx="19385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148072" y="1362456"/>
            <a:ext cx="19385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INR 1,39,399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5148072" y="1819656"/>
            <a:ext cx="19385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transaction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333488" y="1051560"/>
            <a:ext cx="2212848" cy="1051560"/>
          </a:xfrm>
          <a:prstGeom prst="roundRect">
            <a:avLst>
              <a:gd name="adj" fmla="val 5217"/>
            </a:avLst>
          </a:prstGeom>
          <a:solidFill>
            <a:srgbClr val="1B3A5C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470648" y="1143000"/>
            <a:ext cx="19385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CATEGORY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470648" y="1362456"/>
            <a:ext cx="19385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Electronics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7470648" y="1819656"/>
            <a:ext cx="19385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36.4% of revenue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656064" y="1051560"/>
            <a:ext cx="2212848" cy="1051560"/>
          </a:xfrm>
          <a:prstGeom prst="roundRect">
            <a:avLst>
              <a:gd name="adj" fmla="val 5217"/>
            </a:avLst>
          </a:prstGeom>
          <a:solidFill>
            <a:srgbClr val="1B3A5C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793224" y="1143000"/>
            <a:ext cx="19385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CITY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793224" y="1362456"/>
            <a:ext cx="19385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Patna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9793224" y="1819656"/>
            <a:ext cx="19385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1.93Cr revenue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2331720"/>
            <a:ext cx="6309360" cy="20574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48640" y="240487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Trend (INR)</a:t>
            </a:r>
            <a:endParaRPr lang="en-US" sz="120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502920" y="2715768"/>
          <a:ext cx="6035040" cy="1554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Shape 26"/>
          <p:cNvSpPr/>
          <p:nvPr/>
        </p:nvSpPr>
        <p:spPr>
          <a:xfrm>
            <a:off x="6812280" y="2331720"/>
            <a:ext cx="4983480" cy="20574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6995160" y="240487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Category (INR)</a:t>
            </a:r>
            <a:endParaRPr lang="en-US" sz="1200" dirty="0"/>
          </a:p>
        </p:txBody>
      </p:sp>
      <p:graphicFrame>
        <p:nvGraphicFramePr>
          <p:cNvPr id="31" name="Chart 1" descr=""/>
          <p:cNvGraphicFramePr/>
          <p:nvPr/>
        </p:nvGraphicFramePr>
        <p:xfrm>
          <a:off x="6949440" y="2715768"/>
          <a:ext cx="4709160" cy="1554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2" name="Shape 28"/>
          <p:cNvSpPr/>
          <p:nvPr/>
        </p:nvSpPr>
        <p:spPr>
          <a:xfrm>
            <a:off x="365760" y="4526280"/>
            <a:ext cx="4754880" cy="196596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33" name="Text 29"/>
          <p:cNvSpPr/>
          <p:nvPr/>
        </p:nvSpPr>
        <p:spPr>
          <a:xfrm>
            <a:off x="548640" y="459943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City (INR)</a:t>
            </a:r>
            <a:endParaRPr lang="en-US" sz="1200" dirty="0"/>
          </a:p>
        </p:txBody>
      </p:sp>
      <p:graphicFrame>
        <p:nvGraphicFramePr>
          <p:cNvPr id="34" name="Chart 2" descr=""/>
          <p:cNvGraphicFramePr/>
          <p:nvPr/>
        </p:nvGraphicFramePr>
        <p:xfrm>
          <a:off x="502920" y="4892040"/>
          <a:ext cx="4480560" cy="1508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5" name="Shape 30"/>
          <p:cNvSpPr/>
          <p:nvPr/>
        </p:nvSpPr>
        <p:spPr>
          <a:xfrm>
            <a:off x="5257800" y="4526280"/>
            <a:ext cx="3200400" cy="196596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36" name="Text 31"/>
          <p:cNvSpPr/>
          <p:nvPr/>
        </p:nvSpPr>
        <p:spPr>
          <a:xfrm>
            <a:off x="5440680" y="459943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Split by Gender</a:t>
            </a:r>
            <a:endParaRPr lang="en-US" sz="1200" dirty="0"/>
          </a:p>
        </p:txBody>
      </p:sp>
      <p:graphicFrame>
        <p:nvGraphicFramePr>
          <p:cNvPr id="37" name="Chart 3" descr=""/>
          <p:cNvGraphicFramePr/>
          <p:nvPr/>
        </p:nvGraphicFramePr>
        <p:xfrm>
          <a:off x="5349240" y="4892040"/>
          <a:ext cx="3017520" cy="1508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8" name="Shape 32"/>
          <p:cNvSpPr/>
          <p:nvPr/>
        </p:nvSpPr>
        <p:spPr>
          <a:xfrm>
            <a:off x="8641080" y="4526280"/>
            <a:ext cx="3154680" cy="196596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39" name="Text 33"/>
          <p:cNvSpPr/>
          <p:nvPr/>
        </p:nvSpPr>
        <p:spPr>
          <a:xfrm>
            <a:off x="8823960" y="459943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vs Weekend Orders</a:t>
            </a:r>
            <a:endParaRPr lang="en-US" sz="1200" dirty="0"/>
          </a:p>
        </p:txBody>
      </p:sp>
      <p:graphicFrame>
        <p:nvGraphicFramePr>
          <p:cNvPr id="40" name="Chart 4" descr=""/>
          <p:cNvGraphicFramePr/>
          <p:nvPr/>
        </p:nvGraphicFramePr>
        <p:xfrm>
          <a:off x="8732520" y="4892040"/>
          <a:ext cx="2971800" cy="1508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KPIs to Track Going Forward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92608" cy="292608"/>
          </a:xfrm>
          <a:prstGeom prst="ellipse">
            <a:avLst/>
          </a:prstGeom>
          <a:solidFill>
            <a:srgbClr val="1F4E7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887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51560" y="114300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&amp; Revenue Growth %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394960" y="1143000"/>
            <a:ext cx="6217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measure of business health; growth rate flags momentum shifts early.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938528"/>
            <a:ext cx="292608" cy="292608"/>
          </a:xfrm>
          <a:prstGeom prst="ellipse">
            <a:avLst/>
          </a:prstGeom>
          <a:solidFill>
            <a:srgbClr val="1F4E7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9385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892808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 (AOV)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94960" y="1892808"/>
            <a:ext cx="6217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Total_Sales ÷ Orders; tracks whether growth is from more customers or bigger baskets.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688336"/>
            <a:ext cx="292608" cy="292608"/>
          </a:xfrm>
          <a:prstGeom prst="ellipse">
            <a:avLst/>
          </a:prstGeom>
          <a:solidFill>
            <a:srgbClr val="1F4E78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68833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2642616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Category / Product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94960" y="2642616"/>
            <a:ext cx="6217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which lines drive the business, guiding inventory and marketing spend.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38144"/>
            <a:ext cx="292608" cy="292608"/>
          </a:xfrm>
          <a:prstGeom prst="ellipse">
            <a:avLst/>
          </a:prstGeom>
          <a:solidFill>
            <a:srgbClr val="1F4E78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4381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1560" y="3392424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Orders by City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94960" y="3392424"/>
            <a:ext cx="6217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high-performing and under-served regions for targeted expansion.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187952"/>
            <a:ext cx="292608" cy="292608"/>
          </a:xfrm>
          <a:prstGeom prst="ellipse">
            <a:avLst/>
          </a:prstGeom>
          <a:solidFill>
            <a:srgbClr val="1F4E78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1879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51560" y="4142232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Count &amp; Repeat-Purchase Rate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94960" y="4142232"/>
            <a:ext cx="6217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Distinguishes acquisition-driven growth from retention-driven growth.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937760"/>
            <a:ext cx="292608" cy="292608"/>
          </a:xfrm>
          <a:prstGeom prst="ellipse">
            <a:avLst/>
          </a:prstGeom>
          <a:solidFill>
            <a:srgbClr val="1F4E78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9377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51560" y="489204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vs Weekend / Monthly Seasonality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94960" y="4892040"/>
            <a:ext cx="6217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Informs staffing, promotions, and campaign timing.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5687568"/>
            <a:ext cx="292608" cy="292608"/>
          </a:xfrm>
          <a:prstGeom prst="ellipse">
            <a:avLst/>
          </a:prstGeom>
          <a:solidFill>
            <a:srgbClr val="1F4E78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56875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51560" y="5641848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Price-Tier Mix (Budget/Mid/Premium/Luxury)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94960" y="5641848"/>
            <a:ext cx="6217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shifts in customer willingness-to-pay over time.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KPI Dashboard Mock-up</dc:title>
  <dc:subject>PptxGenJS Presentation</dc:subject>
  <dc:creator>ApexPlanet Data Analytics Internship</dc:creator>
  <cp:lastModifiedBy>ApexPlanet Data Analytics Internship</cp:lastModifiedBy>
  <cp:revision>1</cp:revision>
  <dcterms:created xsi:type="dcterms:W3CDTF">2026-07-04T18:27:13Z</dcterms:created>
  <dcterms:modified xsi:type="dcterms:W3CDTF">2026-07-04T18:27:13Z</dcterms:modified>
</cp:coreProperties>
</file>